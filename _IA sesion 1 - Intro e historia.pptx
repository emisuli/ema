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ctPYJDHhiNV2jzeNBxnGTRAhY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9" name="Google Shape;8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CL"/>
              <a:t>Robots look like this. We have autonomous cars that figure out how to take us to our destination</a:t>
            </a:r>
            <a:endParaRPr/>
          </a:p>
        </p:txBody>
      </p:sp>
      <p:sp>
        <p:nvSpPr>
          <p:cNvPr id="102" name="Google Shape;10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CL"/>
              <a:t>Or drones that record cool videos of us as we do outdoor activities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-CL"/>
              <a:t>So what is powering all of this? That’s what this course is for.</a:t>
            </a:r>
            <a:endParaRPr/>
          </a:p>
        </p:txBody>
      </p:sp>
      <p:sp>
        <p:nvSpPr>
          <p:cNvPr id="108" name="Google Shape;10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30cfc5e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430cfc5e58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30cfc5e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430cfc5e5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9" Type="http://schemas.openxmlformats.org/officeDocument/2006/relationships/image" Target="../media/image10.png"/><Relationship Id="rId5" Type="http://schemas.openxmlformats.org/officeDocument/2006/relationships/image" Target="../media/image5.jp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ep_CUkPNKCcavO4YSzNvDzyYii1mgkGn/view?usp=shar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drive/folders/18TAAivOlGFAQUFn7ckXUoa_yXqU6mYcC?usp=sharing" TargetMode="External"/><Relationship Id="rId4" Type="http://schemas.openxmlformats.org/officeDocument/2006/relationships/hyperlink" Target="https://www.youtube.com/watch?v=DVlFNnBZ9xs" TargetMode="External"/><Relationship Id="rId5" Type="http://schemas.openxmlformats.org/officeDocument/2006/relationships/hyperlink" Target="https://drive.google.com/file/d/1UPIv-kGDxEe78FiLhLUkdPaFi_EGToe_/view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orms.gle/dabNHjd5xLMvE2az6" TargetMode="External"/><Relationship Id="rId4" Type="http://schemas.openxmlformats.org/officeDocument/2006/relationships/hyperlink" Target="https://drive.google.com/file/d/1u9ZAcUDTOyeVXUSQJ8se7zdohlCAlG4r/view?usp=shari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inst.eecs.berkeley.edu/~cs188/sp20/" TargetMode="External"/><Relationship Id="rId4" Type="http://schemas.openxmlformats.org/officeDocument/2006/relationships/hyperlink" Target="https://www.youtube.com/watch?v=DVlFNnBZ9xs" TargetMode="External"/><Relationship Id="rId9" Type="http://schemas.openxmlformats.org/officeDocument/2006/relationships/hyperlink" Target="https://drive.google.com/file/d/1UPIv-kGDxEe78FiLhLUkdPaFi_EGToe_/view?usp=sharing" TargetMode="External"/><Relationship Id="rId5" Type="http://schemas.openxmlformats.org/officeDocument/2006/relationships/hyperlink" Target="https://www.youtube.com/watch?v=DVlFNnBZ9xs" TargetMode="External"/><Relationship Id="rId6" Type="http://schemas.openxmlformats.org/officeDocument/2006/relationships/hyperlink" Target="https://github.com/GAMES-UChile/Curso-Aprendizaje-de-Maquinas" TargetMode="External"/><Relationship Id="rId7" Type="http://schemas.openxmlformats.org/officeDocument/2006/relationships/hyperlink" Target="https://github.com/GAMES-UChile/Curso-Aprendizaje-de-Maquinas" TargetMode="External"/><Relationship Id="rId8" Type="http://schemas.openxmlformats.org/officeDocument/2006/relationships/hyperlink" Target="https://drive.google.com/file/d/1u4z0cGA9Y0p0u9taR6M2BEgOKEUt3Oi7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3883076" y="2162300"/>
            <a:ext cx="4455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Inteligencia Artificial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3883068" y="2813399"/>
            <a:ext cx="4117932" cy="962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/>
              <a:t>Introducción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628650" y="-6571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>
                <a:solidFill>
                  <a:schemeClr val="dk1"/>
                </a:solidFill>
              </a:rPr>
              <a:t>Sci-Fi AI?</a:t>
            </a:r>
            <a:endParaRPr/>
          </a:p>
        </p:txBody>
      </p:sp>
      <p:pic>
        <p:nvPicPr>
          <p:cNvPr descr="Artoo-c3po"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9149"/>
            <a:ext cx="2971800" cy="4367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3-94" id="93" name="Google Shape;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819150"/>
            <a:ext cx="2686050" cy="1522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rix-smith-dvd2" id="94" name="Google Shape;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2343150"/>
            <a:ext cx="26860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images3.wikia.nocookie.net/__cb58379/half-life/en/images/d/d5/Glados_new_lair.jpg" id="95" name="Google Shape;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8800" y="3790950"/>
            <a:ext cx="18034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7">
            <a:alphaModFix/>
          </a:blip>
          <a:srcRect b="0" l="11948" r="7574" t="0"/>
          <a:stretch/>
        </p:blipFill>
        <p:spPr>
          <a:xfrm>
            <a:off x="5638799" y="819150"/>
            <a:ext cx="3593047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53312" y="3790950"/>
            <a:ext cx="1690688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84506" y="3747856"/>
            <a:ext cx="2654292" cy="139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144000" cy="5205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0" y="0"/>
            <a:ext cx="9143999" cy="51430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449706" y="509798"/>
            <a:ext cx="3128996" cy="2802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</a:pPr>
            <a:r>
              <a:rPr lang="es-CL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 de contenidos</a:t>
            </a:r>
            <a:endParaRPr/>
          </a:p>
        </p:txBody>
      </p:sp>
      <p:grpSp>
        <p:nvGrpSpPr>
          <p:cNvPr id="117" name="Google Shape;117;p21"/>
          <p:cNvGrpSpPr/>
          <p:nvPr/>
        </p:nvGrpSpPr>
        <p:grpSpPr>
          <a:xfrm>
            <a:off x="7062324" y="0"/>
            <a:ext cx="1834788" cy="5777808"/>
            <a:chOff x="329184" y="1"/>
            <a:chExt cx="524256" cy="5777808"/>
          </a:xfrm>
        </p:grpSpPr>
        <p:cxnSp>
          <p:nvCxnSpPr>
            <p:cNvPr id="118" name="Google Shape;118;p21"/>
            <p:cNvCxnSpPr/>
            <p:nvPr/>
          </p:nvCxnSpPr>
          <p:spPr>
            <a:xfrm rot="10800000">
              <a:off x="329184" y="5777809"/>
              <a:ext cx="521208" cy="0"/>
            </a:xfrm>
            <a:prstGeom prst="straightConnector1">
              <a:avLst/>
            </a:prstGeom>
            <a:noFill/>
            <a:ln cap="flat" cmpd="sng" w="152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21"/>
            <p:cNvSpPr/>
            <p:nvPr/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1"/>
          <p:cNvSpPr/>
          <p:nvPr/>
        </p:nvSpPr>
        <p:spPr>
          <a:xfrm>
            <a:off x="4039948" y="201993"/>
            <a:ext cx="4587584" cy="465658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0429" y="963317"/>
            <a:ext cx="4206622" cy="313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7139352" y="4114800"/>
            <a:ext cx="2004648" cy="1028700"/>
          </a:xfrm>
          <a:custGeom>
            <a:rect b="b" l="l" r="r" t="t"/>
            <a:pathLst>
              <a:path extrusionOk="0" h="1371600" w="2672863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 rotWithShape="1">
          <a:blip r:embed="rId3">
            <a:alphaModFix/>
          </a:blip>
          <a:srcRect b="38016" l="0" r="35456" t="0"/>
          <a:stretch/>
        </p:blipFill>
        <p:spPr>
          <a:xfrm>
            <a:off x="4905789" y="1225241"/>
            <a:ext cx="3583036" cy="2563486"/>
          </a:xfrm>
          <a:custGeom>
            <a:rect b="b" l="l" r="r" t="t"/>
            <a:pathLst>
              <a:path extrusionOk="0" h="5643794" w="4777381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9" name="Google Shape;129;p22"/>
          <p:cNvSpPr/>
          <p:nvPr/>
        </p:nvSpPr>
        <p:spPr>
          <a:xfrm>
            <a:off x="3451537" y="487620"/>
            <a:ext cx="2240924" cy="2240924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 txBox="1"/>
          <p:nvPr>
            <p:ph type="title"/>
          </p:nvPr>
        </p:nvSpPr>
        <p:spPr>
          <a:xfrm>
            <a:off x="628650" y="359619"/>
            <a:ext cx="3943350" cy="994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/>
              <a:t>Hoy: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628650" y="1488332"/>
            <a:ext cx="3943350" cy="3144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¿Inteligencia Artificial?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Breve historia de la Inteligencia Artificial.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Trabajo autónomo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628650" y="510776"/>
            <a:ext cx="7886700" cy="41837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/>
              <a:t>¿Qué entienden por Inteligencia?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430cfc5e58_0_4" title="citaAlber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232" y="0"/>
            <a:ext cx="496423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30cfc5e58_0_0"/>
          <p:cNvSpPr txBox="1"/>
          <p:nvPr>
            <p:ph type="title"/>
          </p:nvPr>
        </p:nvSpPr>
        <p:spPr>
          <a:xfrm>
            <a:off x="628650" y="510776"/>
            <a:ext cx="7886700" cy="41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/>
              <a:t>¿Qué entienden por Inteligencia Artificial?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628650" y="510776"/>
            <a:ext cx="7886700" cy="757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Video: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“What is Intelligence in Machines? | MIT on AI”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10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 sz="1900" u="sng">
                <a:solidFill>
                  <a:srgbClr val="1155CC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https://youtu.be/dOqlfUkDnTU?si=qDieBhhJqNIdeq17</a:t>
            </a:r>
            <a:endParaRPr/>
          </a:p>
          <a:p>
            <a:pPr indent="-3810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900" u="sng">
              <a:solidFill>
                <a:srgbClr val="1155CC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-3810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 sz="1900">
                <a:solidFill>
                  <a:schemeClr val="dk1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(visitado en marzo/2023)</a:t>
            </a:r>
            <a:endParaRPr/>
          </a:p>
          <a:p>
            <a:pPr indent="-3810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900" u="sng">
              <a:solidFill>
                <a:srgbClr val="1155CC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Referencias (diapositivas siguientes):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Maquinaria computacional e Inteligencia – Turing 1950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Steps Toward Artificial Intelligence – Marvin Minsky 1961</a:t>
            </a:r>
            <a:endParaRPr/>
          </a:p>
          <a:p>
            <a:pPr indent="-3810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s-CL" sz="1800">
                <a:latin typeface="Courier"/>
                <a:ea typeface="Courier"/>
                <a:cs typeface="Courier"/>
                <a:sym typeface="Courier"/>
              </a:rPr>
              <a:t> </a:t>
            </a:r>
            <a:endParaRPr sz="2400"/>
          </a:p>
          <a:p>
            <a:pPr indent="-3810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>
            <p:ph type="title"/>
          </p:nvPr>
        </p:nvSpPr>
        <p:spPr>
          <a:xfrm>
            <a:off x="628650" y="510776"/>
            <a:ext cx="7886700" cy="757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/>
              <a:t>Alan Turing - 1950</a:t>
            </a:r>
            <a:endParaRPr/>
          </a:p>
        </p:txBody>
      </p:sp>
      <p:sp>
        <p:nvSpPr>
          <p:cNvPr id="158" name="Google Shape;158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/>
              <a:t>IMPORTANTE: Ingrese a los enlaces con su cuenta institucional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i="1" lang="es-CL"/>
              <a:t>“Maquinaria computacional e Inteligencia”</a:t>
            </a:r>
            <a:r>
              <a:rPr lang="es-CL"/>
              <a:t>, disponible en: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 u="sng">
                <a:solidFill>
                  <a:schemeClr val="hlink"/>
                </a:solidFill>
                <a:hlinkClick r:id="rId3"/>
              </a:rPr>
              <a:t>https://drive.google.com/file/d/1ep_CUkPNKCcavO4YSzNvDzyYii1mgkGn/view?usp=sharing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628650" y="510776"/>
            <a:ext cx="7886700" cy="757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/>
              <a:t>Minsky - 1961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/>
              <a:t>Artículo </a:t>
            </a:r>
            <a:r>
              <a:rPr b="1" i="1" lang="es-CL"/>
              <a:t>“Steps Torwards Artificial Intelligence”</a:t>
            </a:r>
            <a:r>
              <a:rPr i="1" lang="es-CL"/>
              <a:t>, </a:t>
            </a:r>
            <a:r>
              <a:rPr lang="es-CL"/>
              <a:t>artículo y video que lo explica disponibles en: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 u="sng">
                <a:solidFill>
                  <a:schemeClr val="hlink"/>
                </a:solidFill>
                <a:hlinkClick r:id="rId3"/>
              </a:rPr>
              <a:t>https://drive.google.com/drive/folders/18TAAivOlGFAQUFn7ckXUoa_yXqU6mYcC?usp=sharing</a:t>
            </a:r>
            <a:endParaRPr u="sng">
              <a:solidFill>
                <a:schemeClr val="hlink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/>
              <a:t>Fuente del video  (YouTube):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/>
              <a:t> </a:t>
            </a:r>
            <a:r>
              <a:rPr lang="es-CL" u="sng">
                <a:solidFill>
                  <a:schemeClr val="hlink"/>
                </a:solidFill>
                <a:hlinkClick r:id="rId4"/>
              </a:rPr>
              <a:t>https://www.youtube.com/watch?v=DVlFNnBZ9xs</a:t>
            </a:r>
            <a:endParaRPr/>
          </a:p>
          <a:p>
            <a:pPr indent="0" lvl="1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>
                <a:solidFill>
                  <a:schemeClr val="dk1"/>
                </a:solidFill>
              </a:rPr>
              <a:t>Artículo </a:t>
            </a:r>
            <a:r>
              <a:rPr i="1" lang="es-CL">
                <a:solidFill>
                  <a:schemeClr val="dk1"/>
                </a:solidFill>
              </a:rPr>
              <a:t>“Marvin Lee Minsky: pionero en la investigación de la inteligencia artificial (1927-2016)” [5]</a:t>
            </a:r>
            <a:r>
              <a:rPr lang="es-CL">
                <a:solidFill>
                  <a:schemeClr val="dk1"/>
                </a:solidFill>
              </a:rPr>
              <a:t>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-CL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https://drive.google.com/file/d/1UPIv-kGDxEe78FiLhLUkdPaFi_EGToe_/view?usp=sharing</a:t>
            </a:r>
            <a:endParaRPr>
              <a:solidFill>
                <a:schemeClr val="dk1"/>
              </a:solidFill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628650" y="185924"/>
            <a:ext cx="7886700" cy="757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/>
              <a:t>Trabajo Autónomo - Historia de la IA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628650" y="920387"/>
            <a:ext cx="7886700" cy="4037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1600">
                <a:solidFill>
                  <a:schemeClr val="dk1"/>
                </a:solidFill>
              </a:rPr>
              <a:t>1. En grupos de 1-2 personas (llenar formulario </a:t>
            </a:r>
            <a:r>
              <a:rPr lang="es-CL" sz="1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https://forms.gle/dabNHjd5xLMvE2az6</a:t>
            </a:r>
            <a:r>
              <a:rPr lang="es-CL" sz="1600">
                <a:solidFill>
                  <a:schemeClr val="dk1"/>
                </a:solidFill>
              </a:rPr>
              <a:t> en clases), leer la </a:t>
            </a:r>
            <a:r>
              <a:rPr b="1" lang="es-CL" sz="1600">
                <a:solidFill>
                  <a:schemeClr val="dk1"/>
                </a:solidFill>
              </a:rPr>
              <a:t>introducción</a:t>
            </a:r>
            <a:r>
              <a:rPr lang="es-CL" sz="1600">
                <a:solidFill>
                  <a:schemeClr val="dk1"/>
                </a:solidFill>
              </a:rPr>
              <a:t> de [4] y utilizar el método de Cornell para su estudio. Plantilla disponible en (Fuente: El Canasto): 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16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https://drive.google.com/file/d/1u9ZAcUDTOyeVXUSQJ8se7zdohlCAlG4r/view?usp=sharing</a:t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1600">
                <a:solidFill>
                  <a:schemeClr val="dk1"/>
                </a:solidFill>
              </a:rPr>
              <a:t>2. Se recomienda revisar video resumen de Minsky 1961 [2].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1600">
                <a:solidFill>
                  <a:schemeClr val="dk1"/>
                </a:solidFill>
              </a:rPr>
              <a:t>3. Como ticket de salida de la sesión, cada grupo debe subir a la plataforma una imagen (formato: foto de hoja de papel) un mapa mental/conceptual del punto 1. 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1600">
                <a:solidFill>
                  <a:schemeClr val="dk1"/>
                </a:solidFill>
              </a:rPr>
              <a:t>4. Además, antes de la sesión de clases siguiente, debe subir en la plataforma otro mapa mental/conceptual del artículo </a:t>
            </a:r>
            <a:r>
              <a:rPr i="1" lang="es-CL" sz="1600">
                <a:solidFill>
                  <a:schemeClr val="dk1"/>
                </a:solidFill>
              </a:rPr>
              <a:t>“Marvin Lee Minsky: pionero en la investigación de la inteligencia artificial (1927-2016)” </a:t>
            </a:r>
            <a:r>
              <a:rPr lang="es-CL" sz="1600">
                <a:solidFill>
                  <a:schemeClr val="dk1"/>
                </a:solidFill>
              </a:rPr>
              <a:t>[5].</a:t>
            </a:r>
            <a:endParaRPr/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CL" sz="1600">
                <a:solidFill>
                  <a:schemeClr val="dk1"/>
                </a:solidFill>
              </a:rPr>
              <a:t>5. Los puntos 3 y 4 son insumos para una discusión como grupo curso para la siguiente sesión de clases.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628650" y="510776"/>
            <a:ext cx="7886700" cy="757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/>
              <a:t>Referencias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rPr lang="es-CL">
                <a:solidFill>
                  <a:schemeClr val="dk1"/>
                </a:solidFill>
              </a:rPr>
              <a:t>[1] CS 188 Introduction to Artificial Intelligence, Spring 2020, Disponible en:</a:t>
            </a:r>
            <a:endParaRPr/>
          </a:p>
          <a:p>
            <a:pPr indent="0" lvl="0" marL="1143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rPr lang="es-C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https://inst.eecs.berkeley.edu/~cs188/sp20/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rPr lang="es-CL">
                <a:solidFill>
                  <a:schemeClr val="dk1"/>
                </a:solidFill>
              </a:rPr>
              <a:t>[2] Resumen de Minsky 1961: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t/>
            </a:r>
            <a:endParaRPr u="sng">
              <a:solidFill>
                <a:schemeClr val="dk1"/>
              </a:solidFill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1143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rPr lang="es-CL" u="sng">
                <a:solidFill>
                  <a:schemeClr val="hlink"/>
                </a:solidFill>
                <a:hlinkClick r:id="rId5"/>
              </a:rPr>
              <a:t>https://www.youtube.com/watch?v=DVlFNnBZ9xs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rPr lang="es-CL">
                <a:solidFill>
                  <a:schemeClr val="dk1"/>
                </a:solidFill>
              </a:rPr>
              <a:t>[3] Felipe Tobar. Material del curso MDS7104 (ex MA5204, MA5203) “</a:t>
            </a:r>
            <a:r>
              <a:rPr i="1" lang="es-CL">
                <a:solidFill>
                  <a:schemeClr val="dk1"/>
                </a:solidFill>
              </a:rPr>
              <a:t>Aprendizaje de Máquinas”</a:t>
            </a:r>
            <a:r>
              <a:rPr lang="es-CL">
                <a:solidFill>
                  <a:schemeClr val="dk1"/>
                </a:solidFill>
              </a:rPr>
              <a:t> del programa de Master of Data Science de la Universidad de Chile: </a:t>
            </a:r>
            <a:r>
              <a:rPr lang="es-CL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</a:t>
            </a:r>
            <a:r>
              <a:rPr lang="es-CL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github.com/GAMES-UChile/Curso-Aprendizaje-de-Maquinas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rPr lang="es-CL">
                <a:solidFill>
                  <a:schemeClr val="dk1"/>
                </a:solidFill>
              </a:rPr>
              <a:t>[4] Apunte de [3]: </a:t>
            </a:r>
            <a:r>
              <a:rPr lang="es-CL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https://drive.google.com/file/d/1u4z0cGA9Y0p0u9taR6M2BEgOKEUt3Oi7/view?usp=drive_link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rPr lang="es-CL">
                <a:solidFill>
                  <a:schemeClr val="dk1"/>
                </a:solidFill>
              </a:rPr>
              <a:t>[5] Fajardo, C</a:t>
            </a:r>
            <a:r>
              <a:rPr i="1" lang="es-CL">
                <a:solidFill>
                  <a:schemeClr val="dk1"/>
                </a:solidFill>
              </a:rPr>
              <a:t>.,“Marvin Lee Minsky: pionero en la investigación de la inteligencia artificial (1927-2016)”, </a:t>
            </a:r>
            <a:r>
              <a:rPr lang="es-CL">
                <a:solidFill>
                  <a:schemeClr val="dk1"/>
                </a:solidFill>
              </a:rPr>
              <a:t>(2021), disponible en: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1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s-CL" u="sng">
                <a:solidFill>
                  <a:schemeClr val="dk1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https://drive.google.com/file/d/1UPIv-kGDxEe78FiLhLUkdPaFi_EGToe_/view?usp=sharing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24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